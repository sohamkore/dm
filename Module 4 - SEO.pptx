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Module 4 covers how search engines work, on-page and off-page SEO, links and practicals. Mention that every concept has a hands-on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 topics. Tell students the order: understand the engine, learn the basics, optimize our own site, then earn trust from other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practical module. Students will leave with a keyword plan, an on-page audit and a set of live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was the last thing you searched? Point out that the person searching already wants something, which is why search traffic converts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library analogy: crawling = finding books, indexing = cataloguing them, ranking = the librarian recommending the best book for your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Google cannot crawl a page, nothing else matters. Show a sample robots.txt (yoursite.com/robots.txt) and sitemap.xml live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confusion: crawled vs indexed. Explain a page can be visited by Googlebot and still not appear in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uses hundreds of signals; these are the main groups. Search intent is the key idea: match the page type to what the user wants.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search live and call out each element. Point out how much space ads and widgets take, which is why ranking position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each operator live. Ask: how many pages of our site are indexed? Is anything missing that should be there?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3-6 month figure is a rule of thumb; it varies by competition and site age. Stress that SEO is a long-term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one-line definition of each type. Local and technical SEO can be follow-up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should target long-tail keywords first. Ask students to suggest long-tail versions of "Python course" and "Tally course".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for "Python course". Keyword Planner needs a free Google Ads account. Google Trends shows seasonality (e.g. admission season).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Define: cloaking = showing different content to Google and users; PBN = private blog network built only to pass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start with the free Google tools; paid tools are optional for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On-page = what we can change ourselves. Next five slides cover each element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may rewrite titles and descriptions, but writing them well gives the best chance of control. Show a real SERP result and point to title and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Headings are the page outline for both users and Google. Show how to inspect headings with right-click, Inspect, or a heading-checker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text also helps accessibility for screen-reader users. Internal links are the easiest SEO win because we fully control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LCP = Largest Contentful Paint, INP = Interaction to Next Paint (replaced FID in 2024), CLS = Cumulative Layout Shift. Test with PageSpeed Insights in the next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demo WordPress site or a student blog. Take a screenshot of the score before changes and after to show the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this slide as a reusable one-page checklist. Students can screenshot it for their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on-page is your CV; off-page is the references that vouch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need both. Great links to a badly optimized page waste potential; a perfect page with no authority struggles to rank in competitive niches.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signals are not a direct ranking factor, but social sharing drives traffic and often leads to links and mentions.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2019 nofollow was treated as a strict rule. Now sponsored and ugc exist, and all three are hints.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open the browser console or a free HTML editor and test these links. The visual look of the link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discover for themselves that many big platforms use nofollow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ignore nofollow links: Quora, Reddit and social profiles still send real visitors.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over quantity. A link inside a relevant article (editorial placement) is worth more than one in a footer or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SpamBrain neutralizes most spam links, but manipulative patterns can still lead to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versions of these tools are limited, so use two or three of them together. Students should write the five prospects in their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beginner techniques build presence and traffic. Most links will be nofollow, which is fine for a natural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Platforms change over time, so verify a site is active before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Reddit is strict about self-promotion. Teach students to contribute first and link rarely.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Pinterest works as a search engine for visuals and sends steady traffic to educational infographics.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NAP consistency is the most important rule for local citations. Google Business Profile is the top priority for a local institute.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on a sample site, ideally the institute. Give 60-90 minutes of lab time and check each tracking sheet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Off-page results take weeks. Review the sheet weekly and watch referral traffic in GA4.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contextual backlink sits inside relevant article text, which makes it more valuable than a footer or sidebar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over quantity: two excellent guest posts beat twenty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Vetting is crucial: a link from a site that exists only to sell links will not help. Look for real readers and editorial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Customize every email. Generic mass pitches get ignored or marked as spam. Replace all bracketed fields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mistake they think is most tempting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nofollow (and ugc/sponsored hint similarly). 2) Crawling, indexing, ranking. 3) 50-60 characters. 4) Search Console, URL Inspection. 5) It looks unnatural and manipulative; a healthy profile has a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deadline that suits your batch. Marks can be split across the keyword plan, audit, submissions and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Remind students of the assignment and its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 | 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how search engines work to on-page, off-page and link building, with hands-on practicals.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Soham Kore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Computer Institute  |  Disha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731520"/>
            <a:ext cx="3200400" cy="3200400"/>
          </a:xfrm>
          <a:prstGeom prst="ellipse">
            <a:avLst/>
          </a:prstGeom>
          <a:solidFill>
            <a:srgbClr val="34373C"/>
          </a:solidFill>
          <a:ln/>
        </p:spPr>
      </p:sp>
      <p:sp>
        <p:nvSpPr>
          <p:cNvPr id="8" name="Shape 6"/>
          <p:cNvSpPr/>
          <p:nvPr/>
        </p:nvSpPr>
        <p:spPr>
          <a:xfrm>
            <a:off x="6080760" y="1234440"/>
            <a:ext cx="2194560" cy="219456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26187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61360" y="118872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344424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4424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38600" y="126187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65520" y="118872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840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4840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42760" y="126187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39268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246583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optimization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61360" y="239268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4" name="Shape 21"/>
          <p:cNvSpPr/>
          <p:nvPr/>
        </p:nvSpPr>
        <p:spPr>
          <a:xfrm>
            <a:off x="344424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4424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038600" y="246583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 links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65520" y="239268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8" name="Shape 25"/>
          <p:cNvSpPr/>
          <p:nvPr/>
        </p:nvSpPr>
        <p:spPr>
          <a:xfrm>
            <a:off x="624840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4840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842760" y="246583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359664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32" name="Shape 29"/>
          <p:cNvSpPr/>
          <p:nvPr/>
        </p:nvSpPr>
        <p:spPr>
          <a:xfrm>
            <a:off x="64008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366979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261360" y="359664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36" name="Shape 33"/>
          <p:cNvSpPr/>
          <p:nvPr/>
        </p:nvSpPr>
        <p:spPr>
          <a:xfrm>
            <a:off x="344424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44424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038600" y="366979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 practicals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065520" y="3596640"/>
            <a:ext cx="262128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40" name="Shape 37"/>
          <p:cNvSpPr/>
          <p:nvPr/>
        </p:nvSpPr>
        <p:spPr>
          <a:xfrm>
            <a:off x="624840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24840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842760" y="3669792"/>
            <a:ext cx="170688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crawling, indexing and ranking work</a:t>
            </a:r>
            <a:endParaRPr lang="en-US" sz="18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 web page for a target keyword</a:t>
            </a:r>
            <a:endParaRPr lang="en-US" sz="18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build quality backlinks</a:t>
            </a:r>
            <a:endParaRPr lang="en-US" sz="18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do-follow from no-follow links in HTML</a:t>
            </a:r>
            <a:endParaRPr lang="en-US" sz="18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tools to track results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25603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run a basic SEO campaign using free tools.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Search Engine?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finds, ranks and shows web pages for what a user types (the query).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Bing, Yahoo, DuckDuckGo, Yandex, Baidu.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journeys start with a search, so a high rank means free, high-intent visitors.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SERP (Search Engine Results Page), delivered in under a second.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searches happen on Google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Stages of a Search Engine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discover pages by following links from page to page.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987040" y="2468880"/>
            <a:ext cx="274320" cy="274320"/>
          </a:xfrm>
          <a:prstGeom prst="rightArrow">
            <a:avLst/>
          </a:prstGeom>
          <a:solidFill>
            <a:srgbClr val="C4531A"/>
          </a:solidFill>
          <a:ln/>
        </p:spPr>
      </p:sp>
      <p:sp>
        <p:nvSpPr>
          <p:cNvPr id="14" name="Shape 10"/>
          <p:cNvSpPr/>
          <p:nvPr/>
        </p:nvSpPr>
        <p:spPr>
          <a:xfrm>
            <a:off x="33528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35814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420" y="15773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814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5814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analyzed and stored in a giant database called the index.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882640" y="2468880"/>
            <a:ext cx="274320" cy="274320"/>
          </a:xfrm>
          <a:prstGeom prst="rightArrow">
            <a:avLst/>
          </a:prstGeom>
          <a:solidFill>
            <a:srgbClr val="C4531A"/>
          </a:solidFill>
          <a:ln/>
        </p:spPr>
      </p:sp>
      <p:sp>
        <p:nvSpPr>
          <p:cNvPr id="21" name="Shape 16"/>
          <p:cNvSpPr/>
          <p:nvPr/>
        </p:nvSpPr>
        <p:spPr>
          <a:xfrm>
            <a:off x="62484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770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020" y="15773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770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4770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770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matches for a query are picked and ordered on the results page.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and indexing happen in advance; ranking happens in milliseconds when you search.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Crawling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77165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8595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261872"/>
            <a:ext cx="310896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Googlebot (the spider)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program that follows links from page to page to find new and updated content.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4846320" y="177165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88595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61872"/>
            <a:ext cx="310896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pages are found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other pages, XML sitemaps submitted in Search Console, and direct URL submission.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2994660"/>
            <a:ext cx="402336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357759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69189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3067812"/>
            <a:ext cx="310896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budget: pages Google will crawl on your site. robots.txt: tells bots what not to crawl. XML sitemap: a list of your URLs.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994660"/>
            <a:ext cx="402336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4846320" y="357759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69189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3067812"/>
            <a:ext cx="310896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blocks crawling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links, robots.txt or noindex blocks, login walls, very slow servers and heavy JavaScript.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Indexing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reads text, images, video, titles and meta tags, then stores a processed copy in its index.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indexed: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thin or low-quality pages may be skipped.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Google which URL is the main version when similar pages exist.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tag: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page out of results on purpose (e.g. thank-you pages).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Console, URL Inspection shows whether a page is indexed.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25603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Crawled does not always mean indexed.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Ranking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26187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page matches the meaning of the query.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6187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 (E-E-A-T)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Expertise, Authoritativeness, Trust: shown by author info and sources.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4917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226771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trusted sites act as votes of confidence.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1945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4846320" y="23774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4917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226771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experience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 (Core Web Vitals), stable layout, HTTPS.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49758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34440" y="327355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Mobile-friendliness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indexes the mobile version of your site first.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4846320" y="33832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49758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440680" y="327355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personalization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change by place, language and search history.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intent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(learn)  •  navigational (find a site)  •  commercial (compare)  •  transactional (buy)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SERP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"Sponsored"; pay per click.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56032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4320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results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listings ranked by SEO.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snippet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box at the very top.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76656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48590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Also Ask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related questions.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974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99466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4008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pack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with 3 nearby businesses.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2560320" y="26974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2743200" y="28803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299466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74320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video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 for the query.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663440" y="26974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32" name="Shape 23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299466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84632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Overviews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with source links.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766560" y="26974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36" name="Shape 26"/>
          <p:cNvSpPr/>
          <p:nvPr/>
        </p:nvSpPr>
        <p:spPr>
          <a:xfrm>
            <a:off x="6949440" y="28803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740" y="2994660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494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panel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box on a brand or person.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40" name="Text 29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"best computer institute in Pune" and label every element you can see.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Yourself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pages Google has indexed for a domain.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intitle: / inurl: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pages with a word in the title or URL.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"quotes"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 exact phrase in order.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Inspection: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Console, paste a URL and see its index status.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1E1F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THESE IN GOOGLE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64592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site:dishagroup.in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site:dishagroup.in excel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intitle:"digital marketing course"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inurl:blog "SEO tips"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"advanced excel course" pune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 website so it appears higher in unpaid (organic) search results.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Marketing = SEO + paid ads (Google Ads).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vs paid ads: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slower but traffic keeps flowing; paid is instant but stops when the budget stops.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indent="0" marL="0">
              <a:buNone/>
            </a:pPr>
            <a:r>
              <a:rPr lang="en-US" sz="15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traffic, credibility, low cost per lead, 24/7 visibility.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before SEO results become visible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HTML tags, structure and speed on your own pages.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6136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4424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Backlinks, mentions and trust signals from other sites.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06552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840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Crawlability, site speed, mobile, HTTPS and site structure.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Profile, reviews and local citations.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26136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344424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540" y="329184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44424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helpful content around keywords and search intent.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06552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C4531A"/>
          </a:solidFill>
          <a:ln/>
        </p:spPr>
      </p:sp>
      <p:sp>
        <p:nvSpPr>
          <p:cNvPr id="28" name="Shape 20"/>
          <p:cNvSpPr/>
          <p:nvPr/>
        </p:nvSpPr>
        <p:spPr>
          <a:xfrm>
            <a:off x="6248400" y="31775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9184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4840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today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on-page and off-page SEO.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The Foundation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6B70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Short-tail: "excel"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search volume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competition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intent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a new site to rank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"excel course"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984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Long-tail: "excel course in pune"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4632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competition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intent: ready to enrol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rank and converts better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"advanced excel course in pune with certification"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 numbers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  •  keyword difficulty  •  search intent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seed keyword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core topic, e.g. "Python course".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6136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44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4424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variations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Autosuggest, Keyword Planner and AnswerThePublic to list 10+ ideas with volume and difficulty.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6552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48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4840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map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primary and 3-5 secondary keywords per page and match each to its intent.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Keyword Planner  •  Google Trends  •  Ubersuggest  •  AnswerThePublic  •  Google Autosuggest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Hats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quality content, genuine links, follows Google guidelines. Safe and lasting results.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26136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6B707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4424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hat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shortcuts in a grey zone, e.g. aggressive outreach or buying expired domains. May be penalized later.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06552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840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guidelines: keyword stuffing, cloaking, link farms, PBNs. Leads to penalties or removal from Google.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practise white-hat SEO only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can wipe out your traffic overnight.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Tools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or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Console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Indexing, search queries, links and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Traffic, user behaviour and conversions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Yoast SEO / Rank Math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and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On-page checks inside WordPress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PageSpeed Insights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and Core Web Vitals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Screaming Frog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(500 URLs) and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crawler for technical audits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Ahrefs / Semrush / Moz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(limited free tools)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Keywords, backlinks and competitor research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On-Page SEO?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control on the page itself.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888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42316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Helpful, original and matched to search intent.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560320" y="16916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13" name="Shape 9"/>
          <p:cNvSpPr/>
          <p:nvPr/>
        </p:nvSpPr>
        <p:spPr>
          <a:xfrm>
            <a:off x="274320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888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43200" y="242316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elements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meta description, headings and alt text.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663440" y="16916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17" name="Shape 12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9888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242316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URLs, internal links and schema markup.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766560" y="16916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98882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242316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mobile-friendly and secure (HTTPS).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 and Meta Description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50-60 characters, primary keyword near the front, brand at the end.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150-160 characters, benefit-led, with a call to action. Not a direct ranking factor, but it lifts clicks (CTR).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headline and blurb people see in the SERP.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1E1F2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BAD VS GOOD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4592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&lt;title&gt;Home&lt;/title&gt;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name="description"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content="Welcome to our site"&gt;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GOOD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&lt;title&gt;Advanced Excel Course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Dehugaon | Disha Institute&lt;/title&gt;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name="description"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content="Learn Excel with live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certification. Enrol today!"&gt;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and Content Quality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primary keyword.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order: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for sections, H3 for sub-points. Do not skip levels for styling.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use: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100 words, naturally. No stuffing.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helpful, matches search intent, kept up to date.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1E1F2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HIERARCHY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4592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H1: Advanced Excel Course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H2: What You Will Learn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H3: Formulas and Functions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H3: Pivot 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H3: Dashboards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H2: Course Fees and Duration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H2: Why Join Disha?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H2: Frequently Asked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Images and Internal Links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readable, lowercase and keyword-rich. Avoid IDs and random characters.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26136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4424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file name, alt text, compressed WebP and lazy loading for speed.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06552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840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related pages with descriptive anchor text (not "click here") to pass authority.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example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/advanced-excel-course     Bad: /page?id=382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On-Page Factors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under 2.5s (loading), INP under 200ms (response), CLS under 0.1 (stability).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6136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4424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indexes the mobile version first. Use responsive design.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06552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840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builds trust and is a light ranking signal.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(JSON-LD) can earn rich results like stars and FAQs.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26136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344424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540" y="329184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44424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duplicate or similar pages to one main URL.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06552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624840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9184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4840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sitemap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important URLs so crawlers find them quickly.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Audit with Yoast / Rank Math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plugin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WordPress, Plugins, Add New: install Yoast SEO or Rank Math and activate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focus keyword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primary keyword for the page in the plugin box.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red and orange items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title, meta description, headings, alt text and keyword use.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2" name="Shape 19"/>
          <p:cNvSpPr/>
          <p:nvPr/>
        </p:nvSpPr>
        <p:spPr>
          <a:xfrm>
            <a:off x="484632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4632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speed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URL in PageSpeed Insights and fix big images and slow scripts.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indexing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Console, URL Inspection, then Request Indexing.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C4531A"/>
          </a:solidFill>
          <a:ln/>
        </p:spPr>
      </p:sp>
      <p:sp>
        <p:nvSpPr>
          <p:cNvPr id="30" name="Shape 27"/>
          <p:cNvSpPr/>
          <p:nvPr/>
        </p:nvSpPr>
        <p:spPr>
          <a:xfrm>
            <a:off x="4846320" y="38785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620" y="3992880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44068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score screenshots and discuss what changed.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Checklist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280160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1369314"/>
            <a:ext cx="178308" cy="1783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2618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keyword in title, H1, URL and first 100 words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4846320" y="1280160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474" y="1369314"/>
            <a:ext cx="178308" cy="1783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618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50-60 characters, meta description 150-160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1911096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2002536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" y="2091690"/>
            <a:ext cx="178308" cy="1783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1984248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and a logical H2/H3 structure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1911096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4846320" y="2002536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474" y="2091690"/>
            <a:ext cx="178308" cy="1783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1984248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content that matches search intent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57200" y="2633472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2724912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" y="2814066"/>
            <a:ext cx="178308" cy="1783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34440" y="2706624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alt text on every image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663440" y="2633472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4846320" y="2724912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474" y="2814066"/>
            <a:ext cx="178308" cy="17830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440680" y="2706624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images and fast load (Core Web Vitals)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57200" y="3355848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32" name="Shape 23"/>
          <p:cNvSpPr/>
          <p:nvPr/>
        </p:nvSpPr>
        <p:spPr>
          <a:xfrm>
            <a:off x="640080" y="3447288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34" y="3536442"/>
            <a:ext cx="178308" cy="17830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4440" y="342900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 with descriptive anchor text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4663440" y="3355848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36" name="Shape 26"/>
          <p:cNvSpPr/>
          <p:nvPr/>
        </p:nvSpPr>
        <p:spPr>
          <a:xfrm>
            <a:off x="4846320" y="3447288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474" y="3536442"/>
            <a:ext cx="178308" cy="17830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440680" y="342900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and served over HTTPS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457200" y="4078224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40" name="Shape 29"/>
          <p:cNvSpPr/>
          <p:nvPr/>
        </p:nvSpPr>
        <p:spPr>
          <a:xfrm>
            <a:off x="640080" y="4169664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234" y="4258818"/>
            <a:ext cx="178308" cy="17830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234440" y="4151376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 and schema where relevant</a:t>
            </a:r>
            <a:endParaRPr lang="en-US" sz="1250" dirty="0"/>
          </a:p>
        </p:txBody>
      </p:sp>
      <p:sp>
        <p:nvSpPr>
          <p:cNvPr id="43" name="Shape 31"/>
          <p:cNvSpPr/>
          <p:nvPr/>
        </p:nvSpPr>
        <p:spPr>
          <a:xfrm>
            <a:off x="4663440" y="4078224"/>
            <a:ext cx="4023360" cy="539496"/>
          </a:xfrm>
          <a:prstGeom prst="roundRect">
            <a:avLst>
              <a:gd name="adj" fmla="val 16949"/>
            </a:avLst>
          </a:prstGeom>
          <a:solidFill>
            <a:srgbClr val="F3F4F6"/>
          </a:solidFill>
          <a:ln/>
        </p:spPr>
      </p:sp>
      <p:sp>
        <p:nvSpPr>
          <p:cNvPr id="44" name="Shape 32"/>
          <p:cNvSpPr/>
          <p:nvPr/>
        </p:nvSpPr>
        <p:spPr>
          <a:xfrm>
            <a:off x="4846320" y="4169664"/>
            <a:ext cx="356616" cy="356616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474" y="4258818"/>
            <a:ext cx="178308" cy="178308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5440680" y="4151376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submitted in Search Console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Off-Page SEO?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do outside your website to build authority, trust and relevance.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888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423160"/>
            <a:ext cx="225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and well known your site is, mostly built through quality backlinks.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261360" y="169164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3" name="Shape 9"/>
          <p:cNvSpPr/>
          <p:nvPr/>
        </p:nvSpPr>
        <p:spPr>
          <a:xfrm>
            <a:off x="344424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9888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44240" y="2423160"/>
            <a:ext cx="225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brand mentions and consistent business details show you are legitimate.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65520" y="169164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7" name="Shape 12"/>
          <p:cNvSpPr/>
          <p:nvPr/>
        </p:nvSpPr>
        <p:spPr>
          <a:xfrm>
            <a:off x="6248400" y="18745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9888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48400" y="2423160"/>
            <a:ext cx="225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and mentions from sites in your niche confirm what your site is about.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vs On-Page SEO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On-Page SEO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Off-Page SEO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your website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your website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Partial: depends on other sites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Titles, headings, content, speed, internal links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Backlinks, guest posts, citations, reviews, mentions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goal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and user experience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and trust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Yoast / Rank Math, PageSpeed, Screaming Frog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Ahrefs, Moz, Ubersuggest, Search Console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of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and ongoing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Activities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other sites: the strongest signal.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560320" y="118872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43200" y="192024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signals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and engagement that drive traffic and awareness.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0" y="192024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mentioned online, even without a link.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766560" y="118872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48590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92024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citations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consistent name, address and phone.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99466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40080" y="372618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on other sites with a link back.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2560320" y="299466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274320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29184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743200" y="372618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outreach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and experts sharing your content.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663440" y="299466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32" name="Shape 23"/>
          <p:cNvSpPr/>
          <p:nvPr/>
        </p:nvSpPr>
        <p:spPr>
          <a:xfrm>
            <a:off x="484632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329184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846320" y="372618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reviews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Justdial reviews build trust.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766560" y="2994660"/>
            <a:ext cx="192024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36" name="Shape 26"/>
          <p:cNvSpPr/>
          <p:nvPr/>
        </p:nvSpPr>
        <p:spPr>
          <a:xfrm>
            <a:off x="6949440" y="317754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740" y="3291840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49440" y="3726180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features and press mentions.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Attributes Explained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230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373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26187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(default)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link. Passes "link equity" (ranking value) to the page it points 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4846320" y="16230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7373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6187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rel="nofollow"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Google not to treat the link as an endorsement. Passes little or no equity.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31318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461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277063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rel="sponsored"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paid links, ads and affiliate links, as Google guidelines require.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4846320" y="31318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2461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277063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rel="ugc"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user-generated content such as blog comments and forum posts.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treats these attributes as hints, not strict commands.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 in HTML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 attribute needed. It is a normal link.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No-follow: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rel="nofollow" inside the &lt;a&gt; tag.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</a:t>
            </a:r>
            <a:pPr indent="0" marL="0">
              <a:buNone/>
            </a:pPr>
            <a:r>
              <a:rPr lang="en-US" sz="14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rel="nofollow sponsored" is allowed.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1E1F2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4592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Do-follow (default)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href="https://dishagroup.in"&gt;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Disha Group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No-follow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href="https://dishagroup.in"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rel="nofollow"&gt;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Disha Group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Sponsored / user-generated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href="..." rel="sponsored"&gt;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href="..." rel="ugc"&gt;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Link's 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link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link, choose Inspect and look for rel="nofollow" in the &lt;a&gt; tag.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6136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44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4424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extension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NoFollow Chrome extension: no-follow links are highlighted on the page.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65520" y="1188720"/>
            <a:ext cx="2621280" cy="2834640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48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48400" y="1920240"/>
            <a:ext cx="225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outbound links on Wikipedia, Quora and a news site, and record the results.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table with three columns: Site, Link location, Do-follow or no-follow.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VS NO-FOLLOW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Should You Want?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C453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Do-follow links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ranking value (link equity)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from relevant, trusted sites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for building authority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2527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984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No-follow links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4632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referral traffic and brand exposure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link profile look natural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may still use them as a hint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profile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mix of both. Only do-follow links looks suspicious.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Backlinks?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from another website to yours (also called an inbound link).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treats them as votes of confidence: one of its strongest ranking signals.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factors: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of the linking site, its authority, anchor text and link placement.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text: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clickable words. Natural and descriptive beats "click here" or spammy exact-match text.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domains: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unique sites linking to you.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&gt; 100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from a trusted, relevant site can beat 100 spammy ones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 Bad Backlinks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backlinks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relevant sites in your niche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Editorial: earned by useful content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trusted domains (news, education, industry blogs)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varied anchor text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B334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984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backlinks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4632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farms and PBNs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link schemes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Spammy comments and irrelevant sites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profile and forum spam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links?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removal first. Use the Disavow tool only as a last resort.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Backlinks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92024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competitor URL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competing institute into a free backlink checker.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60320" y="11887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192024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total backlinks, referring domains and top linking pages.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63440" y="11887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192024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opportunities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5 sites that link to competitors and could link to you.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560" y="11887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192024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own links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Console, Links report shows who links to your site.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Ahrefs Backlink Checker  •  Moz Link Explorer  •  Ubersuggest  •  Search Console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getting other websites to link to yours.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links with useful content and genuine outreach.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techniques (today):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bookmarking, Q&amp;A sites, image submission, directory submission.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(later):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posting, digital PR, broken-link building, resource pages.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indent="0" marL="0">
              <a:buNone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low-quality bulk sites can hurt more than they help.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25272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554480"/>
            <a:ext cx="822960" cy="822960"/>
          </a:xfrm>
          <a:prstGeom prst="ellipse">
            <a:avLst/>
          </a:prstGeom>
          <a:solidFill>
            <a:srgbClr val="EE7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7602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25603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links, do not spam them. Value first, link second.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1: Social Bookmarking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and sharing web pages on public bookmarking sites so others can discover them.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 •  Diigo  •  Pearltrees  •  Flipboard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TYPE AND VALUE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no-follow. Value: traffic, faster discovery and brand exposure.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6535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1653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5087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complete profile with a logo and website link.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4917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89120" y="2491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469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your page with a keyword-rich title, short description and tags.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33299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89120" y="3329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1851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and engage: also bookmark other useful pages, not only your own.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bulk-submitting to hundreds of sites. Use quality platforms only.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2: Q&amp;A Sites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real questions on communities where your target audience asks for help.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Quora  •  Reddit  •  Stack Exchange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TYPE AND VALUE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no-follow. Value: targeted traffic, credibility and brand awareness.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6535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1653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5087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questions in your niche, e.g. "best course to learn Excel".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4917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89120" y="2491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469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genuinely helpful, detailed answer first.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33299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89120" y="3329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1851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link only where it truly helps, and disclose your affiliation.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spam, follow each community guidelines, never paste the same answer twice.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3: Image Submission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original images, infographics and visuals on image sites with a link back to your page.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 •  Flickr  •  Behance  •  Imgur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TYPE AND VALUE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no-follow. Value: traffic, image-search visibility and shares.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6535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1653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5087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infographic or visual (Canva works well).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4917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89120" y="2491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469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descriptive title, tags, description and alt text.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33299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89120" y="3329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1851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add your page URL as the source link.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original visuals only. Never upload copyrighted images.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TECHNIQUES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4: Directory Submission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your business in online directories and map platforms.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 •  Bing Places  •  Justdial  •  Sulekha  •  IndiaMART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TYPE AND VALUE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type varies. Local listings boost Maps visibility and trust.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6535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1653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5087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trusted, relevant directories (local and niche).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4917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89120" y="2491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469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every field. Keep NAP (Name, Address, Phone) identical everywhere.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3329940"/>
            <a:ext cx="411480" cy="41148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89120" y="3329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185160"/>
            <a:ext cx="370332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categories, photos and website link, then verify the listing.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bulk directories: they look spammy.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 PRACTICALS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 and complete every section: category, hours, photos, services.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bookmarking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3 profiles and submit one page of the institute.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answers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relevant Quora questions helpfully, without spamming.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2" name="Shape 19"/>
          <p:cNvSpPr/>
          <p:nvPr/>
        </p:nvSpPr>
        <p:spPr>
          <a:xfrm>
            <a:off x="484632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4632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submission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one infographic on Pinterest with title, tags and link.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business to 2 trusted directories with matching NAP.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4632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84632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sheet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date, platform, URL, link type and status for every task.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 PRACTICALS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Measuring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Console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report, queries, impressions, clicks and indexing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traffic and which pages visitors land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Ahrefs / Moz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backlinks, referring domains and authority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tracking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of every submission and follow-up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domains  •  keyword rankings  •  organic traffic  •  conversions (enquiries, admissions)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Guest Posting?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valuable, original article for a website in your niche.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987040" y="2468880"/>
            <a:ext cx="274320" cy="274320"/>
          </a:xfrm>
          <a:prstGeom prst="rightArrow">
            <a:avLst/>
          </a:prstGeom>
          <a:solidFill>
            <a:srgbClr val="C4531A"/>
          </a:solidFill>
          <a:ln/>
        </p:spPr>
      </p:sp>
      <p:sp>
        <p:nvSpPr>
          <p:cNvPr id="14" name="Shape 10"/>
          <p:cNvSpPr/>
          <p:nvPr/>
        </p:nvSpPr>
        <p:spPr>
          <a:xfrm>
            <a:off x="33528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35814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420" y="15773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814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publish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5814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site reviews it and shares it with its audience.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882640" y="2468880"/>
            <a:ext cx="274320" cy="274320"/>
          </a:xfrm>
          <a:prstGeom prst="rightArrow">
            <a:avLst/>
          </a:prstGeom>
          <a:solidFill>
            <a:srgbClr val="C4531A"/>
          </a:solidFill>
          <a:ln/>
        </p:spPr>
      </p:sp>
      <p:sp>
        <p:nvSpPr>
          <p:cNvPr id="21" name="Shape 16"/>
          <p:cNvSpPr/>
          <p:nvPr/>
        </p:nvSpPr>
        <p:spPr>
          <a:xfrm>
            <a:off x="6248400" y="1188720"/>
            <a:ext cx="2438400" cy="28346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77000" y="1417320"/>
            <a:ext cx="640080" cy="64008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020" y="15773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77000" y="219456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4770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77000" y="2880360"/>
            <a:ext cx="198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referral traffic and a contextual backlink.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Pune education blog publishes your article "5 Excel Skills Every Accountant Needs".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Risks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in your niche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traffic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backlinks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and networking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B334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984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46320" y="19659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warns against large-scale guest posting done mainly for links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or low-quality blogs can harm you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or duplicate content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or sponsored post?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rel="nofollow" or rel="sponsored" on the link.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45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0" y="237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sites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"write for us" digital marketing, or inurl:guest-post.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4706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147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126187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them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relevance, real traffic, content quality and spam signs.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short, personalised email with 3 topic ideas.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239268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2" name="Shape 19"/>
          <p:cNvSpPr/>
          <p:nvPr/>
        </p:nvSpPr>
        <p:spPr>
          <a:xfrm>
            <a:off x="4846320" y="26746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46320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246583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useful and well structured (1,000+ words).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links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natural links to relevant pages, plus an author bio.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3596640"/>
            <a:ext cx="4023360" cy="1021080"/>
          </a:xfrm>
          <a:prstGeom prst="roundRect">
            <a:avLst>
              <a:gd name="adj" fmla="val 8955"/>
            </a:avLst>
          </a:prstGeom>
          <a:solidFill>
            <a:srgbClr val="F3F4F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46320" y="387858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846320" y="3878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3669792"/>
            <a:ext cx="3108960" cy="874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follow up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URL, date and link type. Follow up politely.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Outreach Email Template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1E1F2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Guest post idea for [Website Name]: "5 Excel Skills Every Accountant Needs"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[Editor name],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Soham from Disha Computer Institute, where I train students in Excel, data analytics and digital marketing. I regularly read [Website Name], especially your post on [post title].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love to contribute a guest article. Three ideas: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 Excel Skills Every Accountant Needs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Excel vs Power BI: Which Should You Learn First?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to Build a Student Dashboard in Excel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sample of my work: [link]. I am happy to tailor the topic to your audience.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Kore | Disha Computer Institute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SEO Mistakes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stuffing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write naturally for people and use synonyms.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6136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4424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links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earn links with useful content and outreach.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065520" y="118872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485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8400" y="192024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mobile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test on phones and use responsive design.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content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write unique pages and use canonical tags.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26136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3444240" y="317754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540" y="329184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44424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set up Search Console and GA4 from day one.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065520" y="2994660"/>
            <a:ext cx="2621280" cy="162306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/>
        </p:spPr>
      </p:sp>
      <p:sp>
        <p:nvSpPr>
          <p:cNvPr id="28" name="Shape 20"/>
          <p:cNvSpPr/>
          <p:nvPr/>
        </p:nvSpPr>
        <p:spPr>
          <a:xfrm>
            <a:off x="6248400" y="3177540"/>
            <a:ext cx="457200" cy="457200"/>
          </a:xfrm>
          <a:prstGeom prst="ellipse">
            <a:avLst/>
          </a:prstGeom>
          <a:solidFill>
            <a:srgbClr val="B3342B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9184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48400" y="3726180"/>
            <a:ext cx="2255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overnight results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plan for 3-6 months of steady work.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Quick Quiz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087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crawl, then index, then rank.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is what you control; off-page is trust you earn.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backlinks beat quantity every time.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white hat and track results in Search Console and GA4.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2527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37760" y="1773936"/>
            <a:ext cx="365760" cy="365760"/>
          </a:xfrm>
          <a:prstGeom prst="ellipse">
            <a:avLst/>
          </a:prstGeom>
          <a:solidFill>
            <a:srgbClr val="EE7A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737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link attribute tells Google not to endorse a link?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2340864"/>
            <a:ext cx="365760" cy="365760"/>
          </a:xfrm>
          <a:prstGeom prst="ellipse">
            <a:avLst/>
          </a:prstGeom>
          <a:solidFill>
            <a:srgbClr val="EE7A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3776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3042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3 stages of how a search engine works.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2907792"/>
            <a:ext cx="365760" cy="365760"/>
          </a:xfrm>
          <a:prstGeom prst="ellipse">
            <a:avLst/>
          </a:prstGeom>
          <a:solidFill>
            <a:srgbClr val="EE7A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377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87121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ideal length of a title tag?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3474720"/>
            <a:ext cx="365760" cy="365760"/>
          </a:xfrm>
          <a:prstGeom prst="ellipse">
            <a:avLst/>
          </a:prstGeom>
          <a:solidFill>
            <a:srgbClr val="EE7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377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4381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shows if a page is indexed?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4041648"/>
            <a:ext cx="365760" cy="365760"/>
          </a:xfrm>
          <a:prstGeom prst="ellipse">
            <a:avLst/>
          </a:prstGeom>
          <a:solidFill>
            <a:srgbClr val="EE7A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3776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4005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profile with only do-follow links risky?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SEO  |  Soham Kore  |  Disha Computer Institute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230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623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26187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small business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shop, a clinic, a coaching class or the institute itself.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162306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0" y="1623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126187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plan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keywords: 1 primary and 3-5 secondary for 3 pages.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31318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277063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audit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one page with Yoast or Rank Math. Show before and after.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</p:sp>
      <p:sp>
        <p:nvSpPr>
          <p:cNvPr id="20" name="Shape 17"/>
          <p:cNvSpPr/>
          <p:nvPr/>
        </p:nvSpPr>
        <p:spPr>
          <a:xfrm>
            <a:off x="4846320" y="3131820"/>
            <a:ext cx="457200" cy="457200"/>
          </a:xfrm>
          <a:prstGeom prst="ellipse">
            <a:avLst/>
          </a:prstGeom>
          <a:solidFill>
            <a:srgbClr val="C4531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2770632"/>
            <a:ext cx="3108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work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5 submissions (bookmarking, Q&amp;A, image, directory) and log them.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E9D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 </a:t>
            </a:r>
            <a:pPr indent="0" marL="0">
              <a:buNone/>
            </a:pPr>
            <a:r>
              <a:rPr lang="en-US" sz="1200" dirty="0">
                <a:solidFill>
                  <a:srgbClr val="2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report (PDF) with screenshots and your tracking sheet.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5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731520"/>
            <a:ext cx="3200400" cy="3200400"/>
          </a:xfrm>
          <a:prstGeom prst="ellipse">
            <a:avLst/>
          </a:prstGeom>
          <a:solidFill>
            <a:srgbClr val="34373C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0" y="1234440"/>
            <a:ext cx="2194560" cy="2194560"/>
          </a:xfrm>
          <a:prstGeom prst="ellipse">
            <a:avLst/>
          </a:prstGeom>
          <a:solidFill>
            <a:srgbClr val="C453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80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Kore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Computer Institute  |  dishagroup.in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SEO (Search Engine Optimization)</dc:title>
  <dc:subject>PptxGenJS Presentation</dc:subject>
  <dc:creator>Soham Kore</dc:creator>
  <cp:lastModifiedBy>Soham Kore</cp:lastModifiedBy>
  <cp:revision>1</cp:revision>
  <dcterms:created xsi:type="dcterms:W3CDTF">2026-10-01T09:07:16Z</dcterms:created>
  <dcterms:modified xsi:type="dcterms:W3CDTF">2026-10-01T09:07:16Z</dcterms:modified>
</cp:coreProperties>
</file>